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aleway ExtraBold"/>
      <p:bold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Nunito ExtraBold"/>
      <p:bold r:id="rId35"/>
      <p:boldItalic r:id="rId36"/>
    </p:embeddedFont>
    <p:embeddedFont>
      <p:font typeface="Raleway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F6BC6F-24B5-4DBE-A938-6EEA7FDA0C39}">
  <a:tblStyle styleId="{21F6BC6F-24B5-4DBE-A938-6EEA7FDA0C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E3E3E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E3E3E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E3E3E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E3E3E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E3E3E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E3E3E3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383838"/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B30A5D5-1360-4DF1-93F5-BABE882DD47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Medium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alewayExtra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regular.fntdata"/><Relationship Id="rId30" Type="http://schemas.openxmlformats.org/officeDocument/2006/relationships/font" Target="fonts/RalewayExtraBold-boldItalic.fntdata"/><Relationship Id="rId11" Type="http://schemas.openxmlformats.org/officeDocument/2006/relationships/slide" Target="slides/slide4.xml"/><Relationship Id="rId33" Type="http://schemas.openxmlformats.org/officeDocument/2006/relationships/font" Target="fonts/Lato-italic.fntdata"/><Relationship Id="rId10" Type="http://schemas.openxmlformats.org/officeDocument/2006/relationships/slide" Target="slides/slide3.xml"/><Relationship Id="rId32" Type="http://schemas.openxmlformats.org/officeDocument/2006/relationships/font" Target="fonts/Lato-bold.fntdata"/><Relationship Id="rId13" Type="http://schemas.openxmlformats.org/officeDocument/2006/relationships/slide" Target="slides/slide6.xml"/><Relationship Id="rId35" Type="http://schemas.openxmlformats.org/officeDocument/2006/relationships/font" Target="fonts/NunitoExtraBold-bold.fntdata"/><Relationship Id="rId12" Type="http://schemas.openxmlformats.org/officeDocument/2006/relationships/slide" Target="slides/slide5.xml"/><Relationship Id="rId34" Type="http://schemas.openxmlformats.org/officeDocument/2006/relationships/font" Target="fonts/Lato-boldItalic.fntdata"/><Relationship Id="rId15" Type="http://schemas.openxmlformats.org/officeDocument/2006/relationships/slide" Target="slides/slide8.xml"/><Relationship Id="rId37" Type="http://schemas.openxmlformats.org/officeDocument/2006/relationships/font" Target="fonts/RalewayMedium-regular.fntdata"/><Relationship Id="rId14" Type="http://schemas.openxmlformats.org/officeDocument/2006/relationships/slide" Target="slides/slide7.xml"/><Relationship Id="rId36" Type="http://schemas.openxmlformats.org/officeDocument/2006/relationships/font" Target="fonts/NunitoExtraBold-boldItalic.fntdata"/><Relationship Id="rId17" Type="http://schemas.openxmlformats.org/officeDocument/2006/relationships/slide" Target="slides/slide10.xml"/><Relationship Id="rId39" Type="http://schemas.openxmlformats.org/officeDocument/2006/relationships/font" Target="fonts/RalewayMedium-italic.fntdata"/><Relationship Id="rId16" Type="http://schemas.openxmlformats.org/officeDocument/2006/relationships/slide" Target="slides/slide9.xml"/><Relationship Id="rId38" Type="http://schemas.openxmlformats.org/officeDocument/2006/relationships/font" Target="fonts/RalewayMedium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b46cd9aa8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b46cd9aa8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b46cd9aa8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b46cd9aa8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b46cd9aa8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b46cd9aa8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Very concisely clarify/define key terms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Weak Password - Alpha Characters, no capitalization, 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Medium Password - Non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b46cd9aa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b46cd9aa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Explain the research question the team is investigating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1" marL="139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○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State the question as well as provide the class the required background information to understand what the question is investigating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Explain assumption of expecting attackers to interact with the directories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One limitation is that we can’t control the types of attacks -&gt; possibly  making it difficult to draw clear conclusions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^Back up research question: Examines overall attacker behavior (e.g., what actions they take beyond password cracking)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b46cd9aa8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1b46cd9aa8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State the hypothesis and justify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b46cd9aa8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b46cd9aa8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State the hypothesis and justify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1b46cd9aa8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1b46cd9aa8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Describe the planned architecture of honeypot system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Concisely describe the honeypot recycle strategy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Explain any anticipated potential issues with any of the above design decision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Mention 30 minute recycling time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Mention how directories will be secured using eCrypts Linux tool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1b46cd9aa8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1b46cd9aa8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Describe the planned architecture of honeypot system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Concisely describe the honeypot recycle strategy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Explain any anticipated potential issues with any of the above design decision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Mention 30 minute recycling time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Mention how directories will be secured using eCrypts Linux tool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b46cd9aa8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1b46cd9aa8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Describe the methods and tools that will be used to collect the data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1" marL="139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○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Concisely and clearly define the type of data to be collected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1" marL="139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○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Explain how the data that these tools provide will be able to answer the research question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Direct Data: Time - Parse the MITM logs for duration of time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Indirect Data:  - Parse the serve for key words, methods (brute force)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b46cd9aa8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1b46cd9aa8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Describe the monitoring system the team has in place and how it ensures the honeypots are operating as expected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1b46cd9aa8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1b46cd9aa8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Describe the monitoring system the team has in place and how it ensures the honeypots are operating as expected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Attacker duration always less than 5 minutes - 0.01 of attacks were above 5 minutes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1b46cd9aa8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1b46cd9aa8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Describe the monitoring system the team has in place and how it ensures the honeypots are operating as expected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1b46cd9aa8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1b46cd9aa8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Describe the monitoring system the team has in place and how it ensures the honeypots are operating as expected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1b46cd9aa8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1b46cd9aa8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Describe the monitoring system the team has in place and how it ensures the honeypots are operating as expected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1b46cd9aa8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1b46cd9aa8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Explain the outlined schedule for how the team will complete the project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1" marL="139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Lato"/>
              <a:buChar char="○"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Include visualization of your project management plan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1b46cd9aa8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1b46cd9aa8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1b46cd9aa8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1b46cd9aa8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i.org/10.1080/10658980601051318" TargetMode="External"/><Relationship Id="rId4" Type="http://schemas.openxmlformats.org/officeDocument/2006/relationships/hyperlink" Target="https://doi.org/10.6028/nist.sp.800-63-3" TargetMode="External"/><Relationship Id="rId5" Type="http://schemas.openxmlformats.org/officeDocument/2006/relationships/hyperlink" Target="https://doi.org/10.48550/arxiv.1512.05814" TargetMode="External"/><Relationship Id="rId6" Type="http://schemas.openxmlformats.org/officeDocument/2006/relationships/hyperlink" Target="https://doi.org/10.1109/csma.2015.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Complexity on Attacker Engagement </a:t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729625" y="3172900"/>
            <a:ext cx="76881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By Team 2J - Byte Sized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Joshua Huang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Nathan Li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Yemi Ogunsola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Kaleb Ward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38" name="Google Shape;138;p26"/>
          <p:cNvSpPr/>
          <p:nvPr/>
        </p:nvSpPr>
        <p:spPr>
          <a:xfrm>
            <a:off x="1260075" y="2200175"/>
            <a:ext cx="654900" cy="2085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1260075" y="2571750"/>
            <a:ext cx="654900" cy="2085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1260075" y="2943325"/>
            <a:ext cx="654900" cy="2085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1260075" y="3314900"/>
            <a:ext cx="654900" cy="2085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1260075" y="3686475"/>
            <a:ext cx="654900" cy="2085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1260075" y="4058050"/>
            <a:ext cx="654900" cy="2085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6"/>
          <p:cNvSpPr txBox="1"/>
          <p:nvPr>
            <p:ph type="title"/>
          </p:nvPr>
        </p:nvSpPr>
        <p:spPr>
          <a:xfrm>
            <a:off x="1977550" y="20587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Background</a:t>
            </a:r>
            <a:endParaRPr sz="1800"/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1977550" y="24522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Research &amp; Hypothesis</a:t>
            </a:r>
            <a:endParaRPr sz="1800"/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1977550" y="281913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Honeypot Architecture</a:t>
            </a:r>
            <a:endParaRPr sz="1800"/>
          </a:p>
        </p:txBody>
      </p:sp>
      <p:sp>
        <p:nvSpPr>
          <p:cNvPr id="147" name="Google Shape;147;p26"/>
          <p:cNvSpPr txBox="1"/>
          <p:nvPr>
            <p:ph type="title"/>
          </p:nvPr>
        </p:nvSpPr>
        <p:spPr>
          <a:xfrm>
            <a:off x="1977550" y="3195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Data Collection</a:t>
            </a:r>
            <a:endParaRPr sz="1800"/>
          </a:p>
        </p:txBody>
      </p:sp>
      <p:sp>
        <p:nvSpPr>
          <p:cNvPr id="148" name="Google Shape;148;p26"/>
          <p:cNvSpPr txBox="1"/>
          <p:nvPr>
            <p:ph type="title"/>
          </p:nvPr>
        </p:nvSpPr>
        <p:spPr>
          <a:xfrm>
            <a:off x="1977550" y="3579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Data Analysis</a:t>
            </a:r>
            <a:endParaRPr sz="1800"/>
          </a:p>
        </p:txBody>
      </p:sp>
      <p:sp>
        <p:nvSpPr>
          <p:cNvPr id="149" name="Google Shape;149;p26"/>
          <p:cNvSpPr txBox="1"/>
          <p:nvPr>
            <p:ph type="title"/>
          </p:nvPr>
        </p:nvSpPr>
        <p:spPr>
          <a:xfrm>
            <a:off x="1977550" y="3938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Key Takeaways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a Password Good?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729450" y="2341400"/>
            <a:ext cx="3951900" cy="3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PASSWORD COMPLEXITY </a:t>
            </a:r>
            <a:r>
              <a:rPr lang="en" sz="12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is the “usage of allowed characters, length, and symmetry of a password”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PASSWORD STRENGTH </a:t>
            </a:r>
            <a:r>
              <a:rPr lang="en" sz="12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is the number of attacks necessary for an attacker to crack a password</a:t>
            </a:r>
            <a:endParaRPr sz="12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Collect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7"/>
          <p:cNvSpPr txBox="1"/>
          <p:nvPr>
            <p:ph idx="2" type="body"/>
          </p:nvPr>
        </p:nvSpPr>
        <p:spPr>
          <a:xfrm>
            <a:off x="7505002" y="4744750"/>
            <a:ext cx="2032500" cy="2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6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(Sahin, Lychev, &amp; Wagner, 2015). </a:t>
            </a:r>
            <a:endParaRPr sz="625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625"/>
          </a:p>
        </p:txBody>
      </p:sp>
      <p:pic>
        <p:nvPicPr>
          <p:cNvPr id="164" name="Google Shape;164;p27"/>
          <p:cNvPicPr preferRelativeResize="0"/>
          <p:nvPr/>
        </p:nvPicPr>
        <p:blipFill rotWithShape="1">
          <a:blip r:embed="rId3">
            <a:alphaModFix/>
          </a:blip>
          <a:srcRect b="26300" l="7753" r="65811" t="25139"/>
          <a:stretch/>
        </p:blipFill>
        <p:spPr>
          <a:xfrm>
            <a:off x="5126200" y="2078875"/>
            <a:ext cx="1605125" cy="8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 rotWithShape="1">
          <a:blip r:embed="rId3">
            <a:alphaModFix/>
          </a:blip>
          <a:srcRect b="25722" l="36782" r="36782" t="25717"/>
          <a:stretch/>
        </p:blipFill>
        <p:spPr>
          <a:xfrm>
            <a:off x="7031225" y="2078863"/>
            <a:ext cx="1605125" cy="8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 rotWithShape="1">
          <a:blip r:embed="rId3">
            <a:alphaModFix/>
          </a:blip>
          <a:srcRect b="25722" l="64980" r="8583" t="25717"/>
          <a:stretch/>
        </p:blipFill>
        <p:spPr>
          <a:xfrm>
            <a:off x="5980862" y="3140375"/>
            <a:ext cx="1605125" cy="8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1314250" y="2062200"/>
            <a:ext cx="7027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How does the password complexity of credential-secured directories</a:t>
            </a:r>
            <a:endParaRPr sz="1400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affect attacker behavior within a system? </a:t>
            </a:r>
            <a:endParaRPr sz="15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3" name="Google Shape;173;p28"/>
          <p:cNvSpPr txBox="1"/>
          <p:nvPr/>
        </p:nvSpPr>
        <p:spPr>
          <a:xfrm>
            <a:off x="658850" y="1983250"/>
            <a:ext cx="4233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❔</a:t>
            </a:r>
            <a:endParaRPr sz="40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1314250" y="2963775"/>
            <a:ext cx="7027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Independent Variables:</a:t>
            </a:r>
            <a:endParaRPr sz="1400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	</a:t>
            </a: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Password Complexity: None, Low, Med, High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1314250" y="3752775"/>
            <a:ext cx="7027500" cy="13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Dependent Variable:</a:t>
            </a:r>
            <a:endParaRPr sz="1400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          </a:t>
            </a: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Types </a:t>
            </a: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of Commands: File Management, System Information, etc.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	Password Cracking Techniques: Brute Force, Rainbow Tables, etc.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	Number of Commands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Duration of Time in Environment: milli-seconds</a:t>
            </a: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	</a:t>
            </a:r>
            <a:endParaRPr sz="1400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	</a:t>
            </a:r>
            <a:endParaRPr sz="1400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	</a:t>
            </a:r>
            <a:endParaRPr sz="1400">
              <a:solidFill>
                <a:srgbClr val="0000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729450" y="2752675"/>
            <a:ext cx="7425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x</a:t>
            </a:r>
            <a:endParaRPr sz="5000">
              <a:solidFill>
                <a:schemeClr val="accent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9B9B9B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y</a:t>
            </a:r>
            <a:endParaRPr sz="5000">
              <a:solidFill>
                <a:srgbClr val="9B9B9B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accent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Collect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189" name="Google Shape;189;p29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5850" y="1946725"/>
            <a:ext cx="799050" cy="6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424575" y="2660350"/>
            <a:ext cx="4341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Null Hypothesis </a:t>
            </a:r>
            <a:endParaRPr b="1" sz="1600">
              <a:solidFill>
                <a:schemeClr val="accent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password complexity of credential-secured directories </a:t>
            </a:r>
            <a:r>
              <a:rPr b="1" lang="en" sz="1400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does not affect </a:t>
            </a:r>
            <a:r>
              <a:rPr lang="en" sz="14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attacker behavior </a:t>
            </a:r>
            <a:endParaRPr sz="14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within the system.</a:t>
            </a:r>
            <a:endParaRPr sz="14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00"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Collect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5276838" y="1853850"/>
            <a:ext cx="39720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3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aleway ExtraBold"/>
              <a:buAutoNum type="arabicPeriod"/>
            </a:pP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Types of Commands</a:t>
            </a:r>
            <a:endParaRPr i="1" sz="13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3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aleway ExtraBold"/>
              <a:buAutoNum type="arabicPeriod"/>
            </a:pP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Password Cracking Techniques</a:t>
            </a:r>
            <a:endParaRPr i="1" sz="13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3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aleway ExtraBold"/>
              <a:buAutoNum type="arabicPeriod"/>
            </a:pP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Number of Commands</a:t>
            </a:r>
            <a:endParaRPr i="1" sz="13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3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300"/>
              <a:buAutoNum type="arabicPeriod"/>
            </a:pP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Duration </a:t>
            </a:r>
            <a:endParaRPr i="1" sz="1300"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1238" y="1745250"/>
            <a:ext cx="474476" cy="47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0575" y="2452525"/>
            <a:ext cx="620750" cy="6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863" y="3255025"/>
            <a:ext cx="474475" cy="47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1238" y="3911250"/>
            <a:ext cx="474476" cy="47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Collect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4572000" y="1853850"/>
            <a:ext cx="43632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3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 ExtraBold"/>
              <a:buAutoNum type="arabicPeriod"/>
            </a:pP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Increase in File Management Commands</a:t>
            </a:r>
            <a:endParaRPr i="1" sz="13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3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 ExtraBold"/>
              <a:buAutoNum type="arabicPeriod"/>
            </a:pP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Increase</a:t>
            </a: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 in Password Cracking Techniques</a:t>
            </a:r>
            <a:endParaRPr i="1" sz="13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3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 ExtraBold"/>
              <a:buAutoNum type="arabicPeriod"/>
            </a:pP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Increase</a:t>
            </a: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 in Number of Commands</a:t>
            </a:r>
            <a:endParaRPr i="1" sz="1300"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30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300"/>
              <a:buAutoNum type="arabicPeriod"/>
            </a:pPr>
            <a:r>
              <a:rPr i="1" lang="en" sz="1300">
                <a:latin typeface="Raleway"/>
                <a:ea typeface="Raleway"/>
                <a:cs typeface="Raleway"/>
                <a:sym typeface="Raleway"/>
              </a:rPr>
              <a:t>Increase in Duration of Attacker Sessions </a:t>
            </a:r>
            <a:endParaRPr i="1" sz="1300"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216" name="Google Shape;2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1276" y="2040020"/>
            <a:ext cx="799050" cy="62075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625525" y="2704675"/>
            <a:ext cx="3646200" cy="18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Alternative Hypothesis</a:t>
            </a:r>
            <a:endParaRPr b="1" sz="1600">
              <a:solidFill>
                <a:schemeClr val="accent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Increasing </a:t>
            </a:r>
            <a:r>
              <a:rPr lang="en" sz="14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password complexity of credential-secured directories </a:t>
            </a:r>
            <a:r>
              <a:rPr b="1" lang="en" sz="1400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significantly </a:t>
            </a:r>
            <a:r>
              <a:rPr lang="en" sz="14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affects attacker behavior within the system.</a:t>
            </a:r>
            <a:endParaRPr sz="14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400"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218" name="Google Shape;21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1725" y="1697975"/>
            <a:ext cx="717900" cy="7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7925" y="2268700"/>
            <a:ext cx="906324" cy="90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1700" y="3175025"/>
            <a:ext cx="620750" cy="6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00713" y="3884250"/>
            <a:ext cx="620750" cy="62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/>
          <p:nvPr/>
        </p:nvSpPr>
        <p:spPr>
          <a:xfrm>
            <a:off x="3248375" y="1772625"/>
            <a:ext cx="1713000" cy="290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31"/>
          <p:cNvSpPr txBox="1"/>
          <p:nvPr>
            <p:ph type="title"/>
          </p:nvPr>
        </p:nvSpPr>
        <p:spPr>
          <a:xfrm>
            <a:off x="746150" y="1185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Honeypot Architecture</a:t>
            </a:r>
            <a:endParaRPr/>
          </a:p>
        </p:txBody>
      </p:sp>
      <p:sp>
        <p:nvSpPr>
          <p:cNvPr id="228" name="Google Shape;228;p31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31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Collect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31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75" y="2549400"/>
            <a:ext cx="1115300" cy="11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7523" y="1930394"/>
            <a:ext cx="1198198" cy="799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698" y="1930394"/>
            <a:ext cx="1198198" cy="799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7523" y="2922394"/>
            <a:ext cx="1198198" cy="799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698" y="2922394"/>
            <a:ext cx="1198198" cy="799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0273" y="1913932"/>
            <a:ext cx="1198198" cy="799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0273" y="2905932"/>
            <a:ext cx="1198198" cy="799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2475" y="2217562"/>
            <a:ext cx="348300" cy="3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2475" y="3163225"/>
            <a:ext cx="348300" cy="3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5225" y="2201112"/>
            <a:ext cx="348300" cy="3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5225" y="3115912"/>
            <a:ext cx="348300" cy="3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3650" y="2217575"/>
            <a:ext cx="348300" cy="3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3650" y="3163225"/>
            <a:ext cx="348300" cy="3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 rotWithShape="1">
          <a:blip r:embed="rId6">
            <a:alphaModFix/>
          </a:blip>
          <a:srcRect b="21190" l="8089" r="65475" t="38992"/>
          <a:stretch/>
        </p:blipFill>
        <p:spPr>
          <a:xfrm>
            <a:off x="3366713" y="3914400"/>
            <a:ext cx="1479825" cy="63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1"/>
          <p:cNvPicPr preferRelativeResize="0"/>
          <p:nvPr/>
        </p:nvPicPr>
        <p:blipFill rotWithShape="1">
          <a:blip r:embed="rId6">
            <a:alphaModFix/>
          </a:blip>
          <a:srcRect b="20637" l="36782" r="36782" t="39546"/>
          <a:stretch/>
        </p:blipFill>
        <p:spPr>
          <a:xfrm>
            <a:off x="5207888" y="3914400"/>
            <a:ext cx="1479825" cy="63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 rotWithShape="1">
          <a:blip r:embed="rId6">
            <a:alphaModFix/>
          </a:blip>
          <a:srcRect b="20079" l="64195" r="9368" t="40103"/>
          <a:stretch/>
        </p:blipFill>
        <p:spPr>
          <a:xfrm>
            <a:off x="7009463" y="3897938"/>
            <a:ext cx="1479825" cy="63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/>
          <p:nvPr/>
        </p:nvSpPr>
        <p:spPr>
          <a:xfrm>
            <a:off x="6892875" y="1803400"/>
            <a:ext cx="1713000" cy="294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5091250" y="1772625"/>
            <a:ext cx="1713000" cy="294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3" name="Google Shape;253;p31"/>
          <p:cNvCxnSpPr>
            <a:stCxn id="235" idx="2"/>
          </p:cNvCxnSpPr>
          <p:nvPr/>
        </p:nvCxnSpPr>
        <p:spPr>
          <a:xfrm flipH="1">
            <a:off x="799325" y="3664700"/>
            <a:ext cx="12300" cy="132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1"/>
          <p:cNvCxnSpPr/>
          <p:nvPr/>
        </p:nvCxnSpPr>
        <p:spPr>
          <a:xfrm flipH="1">
            <a:off x="787400" y="4993450"/>
            <a:ext cx="6958800" cy="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1"/>
          <p:cNvCxnSpPr>
            <a:stCxn id="226" idx="2"/>
          </p:cNvCxnSpPr>
          <p:nvPr/>
        </p:nvCxnSpPr>
        <p:spPr>
          <a:xfrm flipH="1">
            <a:off x="4094975" y="4678425"/>
            <a:ext cx="9900" cy="30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1"/>
          <p:cNvCxnSpPr>
            <a:stCxn id="252" idx="2"/>
          </p:cNvCxnSpPr>
          <p:nvPr/>
        </p:nvCxnSpPr>
        <p:spPr>
          <a:xfrm flipH="1">
            <a:off x="5941150" y="4713225"/>
            <a:ext cx="6600" cy="27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1"/>
          <p:cNvCxnSpPr>
            <a:stCxn id="251" idx="2"/>
          </p:cNvCxnSpPr>
          <p:nvPr/>
        </p:nvCxnSpPr>
        <p:spPr>
          <a:xfrm flipH="1">
            <a:off x="7745475" y="4744000"/>
            <a:ext cx="3900" cy="24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31"/>
          <p:cNvSpPr txBox="1"/>
          <p:nvPr/>
        </p:nvSpPr>
        <p:spPr>
          <a:xfrm rot="-3030993">
            <a:off x="3573122" y="5106133"/>
            <a:ext cx="3764536" cy="7851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3D3D3D"/>
                </a:solidFill>
                <a:latin typeface="Lato"/>
                <a:ea typeface="Lato"/>
                <a:cs typeface="Lato"/>
                <a:sym typeface="Lato"/>
              </a:rPr>
              <a:t>↺</a:t>
            </a:r>
            <a:endParaRPr b="1" sz="3900">
              <a:solidFill>
                <a:srgbClr val="3D3D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 rot="-3031144">
            <a:off x="-45527" y="2881241"/>
            <a:ext cx="3498152" cy="7849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3D3D3D"/>
                </a:solidFill>
                <a:latin typeface="Lato"/>
                <a:ea typeface="Lato"/>
                <a:cs typeface="Lato"/>
                <a:sym typeface="Lato"/>
              </a:rPr>
              <a:t>↺</a:t>
            </a:r>
            <a:endParaRPr b="1" sz="3900">
              <a:solidFill>
                <a:srgbClr val="3D3D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p31"/>
          <p:cNvSpPr/>
          <p:nvPr/>
        </p:nvSpPr>
        <p:spPr>
          <a:xfrm>
            <a:off x="1452325" y="1772625"/>
            <a:ext cx="1713000" cy="290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1" name="Google Shape;26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9723" y="1917357"/>
            <a:ext cx="1198198" cy="799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4675" y="3150187"/>
            <a:ext cx="348300" cy="3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1"/>
          <p:cNvPicPr preferRelativeResize="0"/>
          <p:nvPr/>
        </p:nvPicPr>
        <p:blipFill rotWithShape="1">
          <a:blip r:embed="rId6">
            <a:alphaModFix/>
          </a:blip>
          <a:srcRect b="41871" l="8089" r="65476" t="38993"/>
          <a:stretch/>
        </p:blipFill>
        <p:spPr>
          <a:xfrm>
            <a:off x="1568925" y="3901368"/>
            <a:ext cx="1479800" cy="3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1"/>
          <p:cNvSpPr/>
          <p:nvPr/>
        </p:nvSpPr>
        <p:spPr>
          <a:xfrm>
            <a:off x="1751725" y="3996100"/>
            <a:ext cx="479700" cy="1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5" name="Google Shape;265;p31"/>
          <p:cNvCxnSpPr/>
          <p:nvPr/>
        </p:nvCxnSpPr>
        <p:spPr>
          <a:xfrm flipH="1">
            <a:off x="2303875" y="4700775"/>
            <a:ext cx="9900" cy="30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/>
          <p:nvPr/>
        </p:nvSpPr>
        <p:spPr>
          <a:xfrm>
            <a:off x="5724683" y="1796369"/>
            <a:ext cx="2131800" cy="2173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32"/>
          <p:cNvSpPr txBox="1"/>
          <p:nvPr>
            <p:ph type="title"/>
          </p:nvPr>
        </p:nvSpPr>
        <p:spPr>
          <a:xfrm>
            <a:off x="746150" y="1185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Made Over Time</a:t>
            </a:r>
            <a:endParaRPr/>
          </a:p>
        </p:txBody>
      </p:sp>
      <p:sp>
        <p:nvSpPr>
          <p:cNvPr id="272" name="Google Shape;272;p32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32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Collect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32"/>
          <p:cNvSpPr txBox="1"/>
          <p:nvPr/>
        </p:nvSpPr>
        <p:spPr>
          <a:xfrm>
            <a:off x="746150" y="1721125"/>
            <a:ext cx="6000600" cy="26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Addition of 5th Container     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Reduction in Snapshot Usage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MITM Log Parsing Script Development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Enhanced Recycling Script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Transition from </a:t>
            </a:r>
            <a:r>
              <a:rPr i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encryptfs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to Zip Tool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Iptables Rules for Blocking Repeat Attackers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5867856" y="1649775"/>
            <a:ext cx="636300" cy="6291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7124702" y="3307539"/>
            <a:ext cx="636300" cy="658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2" name="Google Shape;282;p32"/>
          <p:cNvCxnSpPr/>
          <p:nvPr/>
        </p:nvCxnSpPr>
        <p:spPr>
          <a:xfrm>
            <a:off x="5708775" y="3463963"/>
            <a:ext cx="238800" cy="66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2"/>
          <p:cNvCxnSpPr/>
          <p:nvPr/>
        </p:nvCxnSpPr>
        <p:spPr>
          <a:xfrm flipH="1">
            <a:off x="5947299" y="3307539"/>
            <a:ext cx="39900" cy="222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2"/>
          <p:cNvCxnSpPr/>
          <p:nvPr/>
        </p:nvCxnSpPr>
        <p:spPr>
          <a:xfrm flipH="1">
            <a:off x="7242539" y="1850303"/>
            <a:ext cx="264000" cy="57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2"/>
          <p:cNvCxnSpPr/>
          <p:nvPr/>
        </p:nvCxnSpPr>
        <p:spPr>
          <a:xfrm flipH="1" rot="9693903">
            <a:off x="7236812" y="1909448"/>
            <a:ext cx="39845" cy="221542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/>
          <p:nvPr>
            <p:ph type="title"/>
          </p:nvPr>
        </p:nvSpPr>
        <p:spPr>
          <a:xfrm>
            <a:off x="841050" y="1251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pic>
        <p:nvPicPr>
          <p:cNvPr id="291" name="Google Shape;291;p33"/>
          <p:cNvPicPr preferRelativeResize="0"/>
          <p:nvPr/>
        </p:nvPicPr>
        <p:blipFill rotWithShape="1">
          <a:blip r:embed="rId3">
            <a:alphaModFix/>
          </a:blip>
          <a:srcRect b="23979" l="24306" r="23433" t="16680"/>
          <a:stretch/>
        </p:blipFill>
        <p:spPr>
          <a:xfrm>
            <a:off x="1965425" y="2429175"/>
            <a:ext cx="1182925" cy="145055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3"/>
          <p:cNvSpPr/>
          <p:nvPr/>
        </p:nvSpPr>
        <p:spPr>
          <a:xfrm>
            <a:off x="841050" y="3312275"/>
            <a:ext cx="1069200" cy="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3203525" y="3312275"/>
            <a:ext cx="1069200" cy="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33"/>
          <p:cNvSpPr/>
          <p:nvPr/>
        </p:nvSpPr>
        <p:spPr>
          <a:xfrm rot="10800000">
            <a:off x="3203525" y="3132100"/>
            <a:ext cx="1069200" cy="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33"/>
          <p:cNvSpPr/>
          <p:nvPr/>
        </p:nvSpPr>
        <p:spPr>
          <a:xfrm rot="10800000">
            <a:off x="841050" y="3132100"/>
            <a:ext cx="1069200" cy="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" name="Google Shape;296;p33"/>
          <p:cNvSpPr txBox="1"/>
          <p:nvPr/>
        </p:nvSpPr>
        <p:spPr>
          <a:xfrm>
            <a:off x="1339663" y="4005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Man-in-the-Middle Server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Collect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4" name="Google Shape;304;p33"/>
          <p:cNvCxnSpPr/>
          <p:nvPr/>
        </p:nvCxnSpPr>
        <p:spPr>
          <a:xfrm flipH="1" rot="10800000">
            <a:off x="4445000" y="1385000"/>
            <a:ext cx="952500" cy="179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3"/>
          <p:cNvCxnSpPr/>
          <p:nvPr/>
        </p:nvCxnSpPr>
        <p:spPr>
          <a:xfrm>
            <a:off x="4445000" y="3176800"/>
            <a:ext cx="1133100" cy="169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6" name="Google Shape;30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950" y="1464825"/>
            <a:ext cx="742675" cy="7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3"/>
          <p:cNvSpPr txBox="1"/>
          <p:nvPr/>
        </p:nvSpPr>
        <p:spPr>
          <a:xfrm>
            <a:off x="5784200" y="2207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Pre-Process Logs in Python</a:t>
            </a:r>
            <a:endParaRPr>
              <a:solidFill>
                <a:schemeClr val="accent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08" name="Google Shape;308;p33"/>
          <p:cNvSpPr txBox="1"/>
          <p:nvPr/>
        </p:nvSpPr>
        <p:spPr>
          <a:xfrm>
            <a:off x="5784200" y="376413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rPr>
              <a:t>Visual and Statistical Analysis</a:t>
            </a:r>
            <a:endParaRPr>
              <a:solidFill>
                <a:schemeClr val="accent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5806225" y="4080675"/>
            <a:ext cx="2553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aleway Medium"/>
                <a:ea typeface="Raleway Medium"/>
                <a:cs typeface="Raleway Medium"/>
                <a:sym typeface="Raleway Medium"/>
              </a:rPr>
              <a:t>Eliminating Outliers, Unique Attacks, Filtering Commands</a:t>
            </a:r>
            <a:endParaRPr sz="11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5577350" y="2429175"/>
            <a:ext cx="292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aleway Medium"/>
                <a:ea typeface="Raleway Medium"/>
                <a:cs typeface="Raleway Medium"/>
                <a:sym typeface="Raleway Medium"/>
              </a:rPr>
              <a:t>MITM Port, Attacker IP, Duration, Commands Used</a:t>
            </a:r>
            <a:endParaRPr sz="11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311" name="Google Shape;31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0050" y="2999300"/>
            <a:ext cx="1005925" cy="10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type="title"/>
          </p:nvPr>
        </p:nvSpPr>
        <p:spPr>
          <a:xfrm>
            <a:off x="746150" y="1224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&amp; Frequency of Commands</a:t>
            </a:r>
            <a:endParaRPr/>
          </a:p>
        </p:txBody>
      </p:sp>
      <p:sp>
        <p:nvSpPr>
          <p:cNvPr id="317" name="Google Shape;317;p34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</a:t>
            </a:r>
            <a:r>
              <a:rPr b="1" lang="en" sz="1000">
                <a:latin typeface="Lato"/>
                <a:ea typeface="Lato"/>
                <a:cs typeface="Lato"/>
                <a:sym typeface="Lato"/>
              </a:rPr>
              <a:t>Collect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24" name="Google Shape;324;p34"/>
          <p:cNvGraphicFramePr/>
          <p:nvPr/>
        </p:nvGraphicFramePr>
        <p:xfrm>
          <a:off x="552975" y="185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{21F6BC6F-24B5-4DBE-A938-6EEA7FDA0C39}</a:tableStyleId>
              </a:tblPr>
              <a:tblGrid>
                <a:gridCol w="2667625"/>
                <a:gridCol w="4403650"/>
                <a:gridCol w="9667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Command Type</a:t>
                      </a:r>
                      <a:endParaRPr b="1"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Commands Used</a:t>
                      </a:r>
                      <a:endParaRPr b="1"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Frequency</a:t>
                      </a:r>
                      <a:endParaRPr b="1"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System Information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uname -s -v -n -r -m, uname -a, uname -s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8012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File Permissions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cd ~; chattr -ia .ssh; lockr -ia .ssh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7235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Install Packages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apt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205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Read and Write File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cat &amp;&amp; exit 100 || more &amp;&amp; exit 101 || less &amp;&amp; exit 102 || tee &amp;&amp; exit 103 || tr x x &amp;&amp; exit 104 || read v &amp;&amp; echo -e "$v" &amp;&amp; exit 105 || exit 113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279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Retrieve/Download Files or the Internet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scp, wget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181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Read Process Executables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./oinasf; dd if=/proc/self/exe bs=22 count=1 || while read i; do echo $i; done &lt; /proc/self/exe || cat /proc/self/exe;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3D3D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41</a:t>
                      </a:r>
                      <a:endParaRPr sz="1000">
                        <a:solidFill>
                          <a:srgbClr val="3D3D3D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25" name="Google Shape;325;p34"/>
          <p:cNvSpPr txBox="1"/>
          <p:nvPr/>
        </p:nvSpPr>
        <p:spPr>
          <a:xfrm>
            <a:off x="552975" y="4451075"/>
            <a:ext cx="8038200" cy="490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most common type of command was system information followed by file permissions unlike the hypothesis of file management to edit, view, and create files.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/>
          <p:nvPr>
            <p:ph type="title"/>
          </p:nvPr>
        </p:nvSpPr>
        <p:spPr>
          <a:xfrm>
            <a:off x="746150" y="1244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Duration of Attacks for All Attackers</a:t>
            </a:r>
            <a:endParaRPr/>
          </a:p>
        </p:txBody>
      </p:sp>
      <p:sp>
        <p:nvSpPr>
          <p:cNvPr id="331" name="Google Shape;331;p35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35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</a:t>
            </a:r>
            <a:r>
              <a:rPr b="1" lang="en" sz="1000">
                <a:latin typeface="Lato"/>
                <a:ea typeface="Lato"/>
                <a:cs typeface="Lato"/>
                <a:sym typeface="Lato"/>
              </a:rPr>
              <a:t>Collect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38" name="Google Shape;338;p35"/>
          <p:cNvGraphicFramePr/>
          <p:nvPr/>
        </p:nvGraphicFramePr>
        <p:xfrm>
          <a:off x="6070800" y="317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{0B30A5D5-1360-4DF1-93F5-BABE882DD47A}</a:tableStyleId>
              </a:tblPr>
              <a:tblGrid>
                <a:gridCol w="730575"/>
                <a:gridCol w="665450"/>
                <a:gridCol w="818375"/>
                <a:gridCol w="571525"/>
              </a:tblGrid>
              <a:tr h="4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p-value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F-statistic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Reject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ANOVA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0.797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0.339845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FALSE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KRUSKAL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0.239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4.32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FALSE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9" name="Google Shape;339;p35"/>
          <p:cNvSpPr txBox="1"/>
          <p:nvPr/>
        </p:nvSpPr>
        <p:spPr>
          <a:xfrm>
            <a:off x="6070863" y="2124600"/>
            <a:ext cx="2785800" cy="894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There is </a:t>
            </a: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no statistical difference </a:t>
            </a:r>
            <a:r>
              <a:rPr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between the means of the four configurations for attacker duration in the total dataset.</a:t>
            </a:r>
            <a:endParaRPr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40" name="Google Shape;340;p35"/>
          <p:cNvPicPr preferRelativeResize="0"/>
          <p:nvPr/>
        </p:nvPicPr>
        <p:blipFill rotWithShape="1">
          <a:blip r:embed="rId3">
            <a:alphaModFix/>
          </a:blip>
          <a:srcRect b="0" l="0" r="14236" t="0"/>
          <a:stretch/>
        </p:blipFill>
        <p:spPr>
          <a:xfrm>
            <a:off x="105850" y="1779950"/>
            <a:ext cx="5918350" cy="3033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type="title"/>
          </p:nvPr>
        </p:nvSpPr>
        <p:spPr>
          <a:xfrm>
            <a:off x="746150" y="1244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Duration of Attacks for Unique Attackers</a:t>
            </a:r>
            <a:endParaRPr/>
          </a:p>
        </p:txBody>
      </p:sp>
      <p:sp>
        <p:nvSpPr>
          <p:cNvPr id="346" name="Google Shape;346;p36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36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" name="Google Shape;348;p36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" name="Google Shape;349;p36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" name="Google Shape;350;p36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</a:t>
            </a:r>
            <a:r>
              <a:rPr b="1" lang="en" sz="1000">
                <a:latin typeface="Lato"/>
                <a:ea typeface="Lato"/>
                <a:cs typeface="Lato"/>
                <a:sym typeface="Lato"/>
              </a:rPr>
              <a:t>Collect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36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53" name="Google Shape;353;p36"/>
          <p:cNvGraphicFramePr/>
          <p:nvPr/>
        </p:nvGraphicFramePr>
        <p:xfrm>
          <a:off x="6070800" y="287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{0B30A5D5-1360-4DF1-93F5-BABE882DD47A}</a:tableStyleId>
              </a:tblPr>
              <a:tblGrid>
                <a:gridCol w="730575"/>
                <a:gridCol w="706500"/>
                <a:gridCol w="777325"/>
                <a:gridCol w="571525"/>
              </a:tblGrid>
              <a:tr h="4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Tukey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Dunn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Reject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Control/Low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0.0299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&gt; 0.00001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TRUE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Control/Medium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0.0004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&gt; 0.00001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TRUE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Control/High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0.0003</a:t>
                      </a:r>
                      <a:endParaRPr sz="11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&gt; 0.00001</a:t>
                      </a:r>
                      <a:endParaRPr sz="11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TRUE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" name="Google Shape;354;p36"/>
          <p:cNvSpPr txBox="1"/>
          <p:nvPr/>
        </p:nvSpPr>
        <p:spPr>
          <a:xfrm>
            <a:off x="6070863" y="1830925"/>
            <a:ext cx="2785800" cy="873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There is </a:t>
            </a: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statistical difference </a:t>
            </a:r>
            <a:r>
              <a:rPr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between the means of the four configurations for attacker duration in the total dataset.</a:t>
            </a:r>
            <a:endParaRPr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55" name="Google Shape;355;p36"/>
          <p:cNvPicPr preferRelativeResize="0"/>
          <p:nvPr/>
        </p:nvPicPr>
        <p:blipFill rotWithShape="1">
          <a:blip r:embed="rId3">
            <a:alphaModFix/>
          </a:blip>
          <a:srcRect b="0" l="0" r="14214" t="0"/>
          <a:stretch/>
        </p:blipFill>
        <p:spPr>
          <a:xfrm>
            <a:off x="0" y="1830925"/>
            <a:ext cx="5931675" cy="307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"/>
          <p:cNvSpPr txBox="1"/>
          <p:nvPr>
            <p:ph type="title"/>
          </p:nvPr>
        </p:nvSpPr>
        <p:spPr>
          <a:xfrm>
            <a:off x="746150" y="1244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Commands for All Attackers</a:t>
            </a:r>
            <a:endParaRPr/>
          </a:p>
        </p:txBody>
      </p:sp>
      <p:sp>
        <p:nvSpPr>
          <p:cNvPr id="361" name="Google Shape;361;p37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" name="Google Shape;362;p37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37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37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</a:t>
            </a:r>
            <a:r>
              <a:rPr b="1" lang="en" sz="1000">
                <a:latin typeface="Lato"/>
                <a:ea typeface="Lato"/>
                <a:cs typeface="Lato"/>
                <a:sym typeface="Lato"/>
              </a:rPr>
              <a:t>Collect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" name="Google Shape;366;p37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68" name="Google Shape;368;p37"/>
          <p:cNvGraphicFramePr/>
          <p:nvPr/>
        </p:nvGraphicFramePr>
        <p:xfrm>
          <a:off x="6070800" y="317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{0B30A5D5-1360-4DF1-93F5-BABE882DD47A}</a:tableStyleId>
              </a:tblPr>
              <a:tblGrid>
                <a:gridCol w="730575"/>
                <a:gridCol w="665450"/>
                <a:gridCol w="818375"/>
                <a:gridCol w="571525"/>
              </a:tblGrid>
              <a:tr h="4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p-value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F-statistic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Reject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ANOVA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0.2049</a:t>
                      </a:r>
                      <a:endParaRPr sz="11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1.528</a:t>
                      </a:r>
                      <a:endParaRPr sz="11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FALSE</a:t>
                      </a:r>
                      <a:endParaRPr sz="11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KRUSKAL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0.911</a:t>
                      </a:r>
                      <a:endParaRPr sz="11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0.53</a:t>
                      </a:r>
                      <a:endParaRPr sz="11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FALSE</a:t>
                      </a:r>
                      <a:endParaRPr sz="11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69" name="Google Shape;369;p37"/>
          <p:cNvPicPr preferRelativeResize="0"/>
          <p:nvPr/>
        </p:nvPicPr>
        <p:blipFill rotWithShape="1">
          <a:blip r:embed="rId3">
            <a:alphaModFix/>
          </a:blip>
          <a:srcRect b="0" l="0" r="14089" t="0"/>
          <a:stretch/>
        </p:blipFill>
        <p:spPr>
          <a:xfrm>
            <a:off x="0" y="1779950"/>
            <a:ext cx="5975426" cy="31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6070863" y="2124600"/>
            <a:ext cx="2785800" cy="894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There is </a:t>
            </a: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no statistical difference </a:t>
            </a:r>
            <a:r>
              <a:rPr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between the means of the four configurations for attacker duration in the total dataset.</a:t>
            </a:r>
            <a:endParaRPr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"/>
          <p:cNvSpPr txBox="1"/>
          <p:nvPr>
            <p:ph type="title"/>
          </p:nvPr>
        </p:nvSpPr>
        <p:spPr>
          <a:xfrm>
            <a:off x="746150" y="1244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Commands for Unique Attackers</a:t>
            </a:r>
            <a:endParaRPr/>
          </a:p>
        </p:txBody>
      </p:sp>
      <p:sp>
        <p:nvSpPr>
          <p:cNvPr id="376" name="Google Shape;376;p38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38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" name="Google Shape;378;p38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p38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" name="Google Shape;380;p38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</a:t>
            </a:r>
            <a:r>
              <a:rPr b="1" lang="en" sz="1000">
                <a:latin typeface="Lato"/>
                <a:ea typeface="Lato"/>
                <a:cs typeface="Lato"/>
                <a:sym typeface="Lato"/>
              </a:rPr>
              <a:t>Collect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" name="Google Shape;381;p38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2" name="Google Shape;382;p38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3" name="Google Shape;383;p38"/>
          <p:cNvPicPr preferRelativeResize="0"/>
          <p:nvPr/>
        </p:nvPicPr>
        <p:blipFill rotWithShape="1">
          <a:blip r:embed="rId3">
            <a:alphaModFix/>
          </a:blip>
          <a:srcRect b="0" l="0" r="14376" t="0"/>
          <a:stretch/>
        </p:blipFill>
        <p:spPr>
          <a:xfrm>
            <a:off x="225125" y="1875200"/>
            <a:ext cx="5748375" cy="3083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4" name="Google Shape;384;p38"/>
          <p:cNvGraphicFramePr/>
          <p:nvPr/>
        </p:nvGraphicFramePr>
        <p:xfrm>
          <a:off x="6070788" y="300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{0B30A5D5-1360-4DF1-93F5-BABE882DD47A}</a:tableStyleId>
              </a:tblPr>
              <a:tblGrid>
                <a:gridCol w="752975"/>
                <a:gridCol w="728175"/>
                <a:gridCol w="801175"/>
                <a:gridCol w="589050"/>
              </a:tblGrid>
              <a:tr h="4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Tukey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Dunn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Reject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Control/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Low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0.5118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0.02544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MIXED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Control/Medium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0.5221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0.063716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MIXED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Control/High</a:t>
                      </a:r>
                      <a:endParaRPr b="1"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0.0498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0.009283</a:t>
                      </a:r>
                      <a:endParaRPr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3B4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TRUE</a:t>
                      </a:r>
                      <a:endParaRPr sz="1000">
                        <a:solidFill>
                          <a:srgbClr val="2D3B4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5" name="Google Shape;385;p38"/>
          <p:cNvSpPr txBox="1"/>
          <p:nvPr/>
        </p:nvSpPr>
        <p:spPr>
          <a:xfrm>
            <a:off x="6070800" y="1875200"/>
            <a:ext cx="2871300" cy="1007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Control/High have statistically significant difference</a:t>
            </a:r>
            <a:r>
              <a:rPr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in the</a:t>
            </a:r>
            <a:r>
              <a:rPr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means. </a:t>
            </a: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More tests are needed </a:t>
            </a:r>
            <a:r>
              <a:rPr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 give accurate conclusion</a:t>
            </a: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for Control/Low and Control Medium.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"/>
          <p:cNvSpPr/>
          <p:nvPr/>
        </p:nvSpPr>
        <p:spPr>
          <a:xfrm>
            <a:off x="342500" y="622600"/>
            <a:ext cx="1252500" cy="208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" name="Google Shape;391;p39"/>
          <p:cNvSpPr/>
          <p:nvPr/>
        </p:nvSpPr>
        <p:spPr>
          <a:xfrm>
            <a:off x="1595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Research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" name="Google Shape;392;p39"/>
          <p:cNvSpPr/>
          <p:nvPr/>
        </p:nvSpPr>
        <p:spPr>
          <a:xfrm>
            <a:off x="27932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Hypothesis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" name="Google Shape;393;p39"/>
          <p:cNvSpPr/>
          <p:nvPr/>
        </p:nvSpPr>
        <p:spPr>
          <a:xfrm>
            <a:off x="39914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Architecture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4" name="Google Shape;394;p39"/>
          <p:cNvSpPr/>
          <p:nvPr/>
        </p:nvSpPr>
        <p:spPr>
          <a:xfrm>
            <a:off x="51896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Collect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" name="Google Shape;395;p39"/>
          <p:cNvSpPr/>
          <p:nvPr/>
        </p:nvSpPr>
        <p:spPr>
          <a:xfrm>
            <a:off x="63878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Data Analysis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" name="Google Shape;396;p39"/>
          <p:cNvSpPr/>
          <p:nvPr/>
        </p:nvSpPr>
        <p:spPr>
          <a:xfrm>
            <a:off x="7586000" y="622600"/>
            <a:ext cx="1198200" cy="2085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" name="Google Shape;397;p39"/>
          <p:cNvSpPr txBox="1"/>
          <p:nvPr>
            <p:ph type="title"/>
          </p:nvPr>
        </p:nvSpPr>
        <p:spPr>
          <a:xfrm>
            <a:off x="-763750" y="1222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 Key Takeaways</a:t>
            </a:r>
            <a:endParaRPr/>
          </a:p>
        </p:txBody>
      </p:sp>
      <p:sp>
        <p:nvSpPr>
          <p:cNvPr id="398" name="Google Shape;398;p39"/>
          <p:cNvSpPr/>
          <p:nvPr/>
        </p:nvSpPr>
        <p:spPr>
          <a:xfrm>
            <a:off x="2096450" y="2671975"/>
            <a:ext cx="44700" cy="453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9"/>
          <p:cNvSpPr/>
          <p:nvPr/>
        </p:nvSpPr>
        <p:spPr>
          <a:xfrm>
            <a:off x="2971634" y="2671974"/>
            <a:ext cx="44700" cy="453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9"/>
          <p:cNvSpPr txBox="1"/>
          <p:nvPr/>
        </p:nvSpPr>
        <p:spPr>
          <a:xfrm>
            <a:off x="637775" y="1818650"/>
            <a:ext cx="7962600" cy="29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Total successful connections: 31370</a:t>
            </a:r>
            <a:endParaRPr sz="1300">
              <a:solidFill>
                <a:srgbClr val="3838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Total successful unique connections: 5897</a:t>
            </a:r>
            <a:endParaRPr sz="1300">
              <a:solidFill>
                <a:srgbClr val="3838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Most attackers spent less than 5 </a:t>
            </a: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minutes</a:t>
            </a: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 within the Honeypot</a:t>
            </a:r>
            <a:endParaRPr sz="1300">
              <a:solidFill>
                <a:srgbClr val="3838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Most common commands include </a:t>
            </a:r>
            <a:r>
              <a:rPr i="1"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uname</a:t>
            </a: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, and </a:t>
            </a:r>
            <a:r>
              <a:rPr i="1"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chattr/lockr</a:t>
            </a: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300">
              <a:solidFill>
                <a:srgbClr val="3838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Statistical significance regarding attacker duration for Low, Medium, High complexity configs when compared to Control</a:t>
            </a:r>
            <a:endParaRPr sz="1300">
              <a:solidFill>
                <a:srgbClr val="3838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Statistical significance regarding number of commands run for High complexity config when compared to Control</a:t>
            </a:r>
            <a:endParaRPr sz="1300">
              <a:solidFill>
                <a:srgbClr val="3838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rgbClr val="383838"/>
                </a:solidFill>
                <a:latin typeface="Raleway"/>
                <a:ea typeface="Raleway"/>
                <a:cs typeface="Raleway"/>
                <a:sym typeface="Raleway"/>
              </a:rPr>
              <a:t>Expand the question to include password attempts into the honeypot itself</a:t>
            </a:r>
            <a:endParaRPr sz="1300">
              <a:solidFill>
                <a:srgbClr val="38383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406" name="Google Shape;406;p40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1"/>
          <p:cNvSpPr txBox="1"/>
          <p:nvPr>
            <p:ph type="title"/>
          </p:nvPr>
        </p:nvSpPr>
        <p:spPr>
          <a:xfrm>
            <a:off x="-763750" y="1222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  References</a:t>
            </a:r>
            <a:endParaRPr/>
          </a:p>
        </p:txBody>
      </p:sp>
      <p:sp>
        <p:nvSpPr>
          <p:cNvPr id="412" name="Google Shape;412;p41"/>
          <p:cNvSpPr/>
          <p:nvPr/>
        </p:nvSpPr>
        <p:spPr>
          <a:xfrm>
            <a:off x="2096450" y="2671975"/>
            <a:ext cx="44700" cy="453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1"/>
          <p:cNvSpPr/>
          <p:nvPr/>
        </p:nvSpPr>
        <p:spPr>
          <a:xfrm>
            <a:off x="2971634" y="2671974"/>
            <a:ext cx="44700" cy="453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1"/>
          <p:cNvSpPr txBox="1"/>
          <p:nvPr>
            <p:ph idx="1" type="body"/>
          </p:nvPr>
        </p:nvSpPr>
        <p:spPr>
          <a:xfrm>
            <a:off x="798100" y="1843700"/>
            <a:ext cx="8054700" cy="3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Cazier, J. A., &amp; Medlin, B. D. (2006). Password Security: An Empirical Investigation Into E-Commerce Passwords and Their Crack Times.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Systems Security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(6), 45–55.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https://doi.org/10.1080/10658980601051318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Grassi, P. A., Garcia, M. E., &amp; Fenton, J. L. (2017, June).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Identity Guidelines: Revision 3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https://doi.org/10.6028/nist.sp.800-63-3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Sahin, C. S., Lychev, R., &amp; Wagner, N. (2015). General Framework for Evaluating Password Complexity and Strength.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(Cornell University)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https://doi.org/10.48550/arxiv.1512.05814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Yu, F., &amp; Huang, Y. (2015). An Overview of Study of Password Cracking.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https://doi.org/10.1109/csma.2015.12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